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F0502020204030204" pitchFamily="34" charset="0"/>
      <p:regular r:id="rId13"/>
    </p:embeddedFont>
    <p:embeddedFont>
      <p:font typeface="IBM Plex Sans Bold" panose="020B0604020202020204" charset="0"/>
      <p:regular r:id="rId14"/>
    </p:embeddedFont>
    <p:embeddedFont>
      <p:font typeface="IBM Plex Sans SemiBold" panose="020F0502020204030204" pitchFamily="34" charset="0"/>
      <p:regular r:id="rId15"/>
    </p:embeddedFont>
    <p:embeddedFont>
      <p:font typeface="Space Grotesk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87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660400"/>
            <a:ext cx="6349841" cy="5461000"/>
          </a:xfrm>
          <a:prstGeom prst="roundRect">
            <a:avLst>
              <a:gd name="adj" fmla="val 558"/>
            </a:avLst>
          </a:prstGeom>
          <a:solidFill>
            <a:srgbClr val="0E1630"/>
          </a:solidFill>
          <a:ln w="12700">
            <a:solidFill>
              <a:srgbClr val="35506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003275" y="956310"/>
            <a:ext cx="632444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16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STRUCTURES &amp; ALGORITHMS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3275" y="1429799"/>
            <a:ext cx="5714857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100" b="1" kern="100" spc="-61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Kruskal’s</a:t>
            </a:r>
            <a:endParaRPr lang="en-US" sz="41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100" b="1" kern="100" spc="-61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Algorithm:</a:t>
            </a:r>
            <a:endParaRPr lang="en-US" sz="41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100" b="1" kern="100" spc="-61" dirty="0">
                <a:solidFill>
                  <a:srgbClr val="35B7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Connect Everything</a:t>
            </a:r>
            <a:endParaRPr lang="en-US" sz="41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100" b="1" kern="100" spc="-61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 Minimum Cost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1003275" y="3585169"/>
            <a:ext cx="4371158" cy="45719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6" name="Text 4"/>
          <p:cNvSpPr/>
          <p:nvPr/>
        </p:nvSpPr>
        <p:spPr>
          <a:xfrm>
            <a:off x="1003275" y="4155291"/>
            <a:ext cx="5714857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100" spc="-2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Find a minimum spanning tree by adding the cheapest safe edges.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3275" y="4980881"/>
            <a:ext cx="850680" cy="308670"/>
          </a:xfrm>
          <a:prstGeom prst="roundRect">
            <a:avLst>
              <a:gd name="adj" fmla="val 3703"/>
            </a:avLst>
          </a:prstGeom>
          <a:noFill/>
          <a:ln w="6350">
            <a:solidFill>
              <a:srgbClr val="35B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5112" y="5049814"/>
            <a:ext cx="1216590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55553" y="4980881"/>
            <a:ext cx="1161624" cy="308670"/>
          </a:xfrm>
          <a:prstGeom prst="roundRect">
            <a:avLst>
              <a:gd name="adj" fmla="val 3703"/>
            </a:avLst>
          </a:prstGeom>
          <a:noFill/>
          <a:ln w="6350">
            <a:solidFill>
              <a:srgbClr val="35B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7390" y="5049814"/>
            <a:ext cx="1527534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CYCLE-FREE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8774" y="4980881"/>
            <a:ext cx="931641" cy="308670"/>
          </a:xfrm>
          <a:prstGeom prst="roundRect">
            <a:avLst>
              <a:gd name="adj" fmla="val 3703"/>
            </a:avLst>
          </a:prstGeom>
          <a:noFill/>
          <a:ln w="6350">
            <a:solidFill>
              <a:srgbClr val="35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0612" y="5049814"/>
            <a:ext cx="1297550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390138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KRUSKAL’S ALGORITHM · 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3291797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Meet the Algorithm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88791"/>
            <a:ext cx="2205379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666921"/>
            <a:ext cx="329179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a messy network into a cheapest connected structure.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3414911"/>
            <a:ext cx="1547774" cy="308670"/>
          </a:xfrm>
          <a:prstGeom prst="roundRect">
            <a:avLst>
              <a:gd name="adj" fmla="val 3703"/>
            </a:avLst>
          </a:prstGeom>
          <a:solidFill>
            <a:srgbClr val="00314D"/>
          </a:solidFill>
          <a:ln/>
        </p:spPr>
      </p:sp>
      <p:sp>
        <p:nvSpPr>
          <p:cNvPr id="7" name="Text 5"/>
          <p:cNvSpPr/>
          <p:nvPr/>
        </p:nvSpPr>
        <p:spPr>
          <a:xfrm>
            <a:off x="731422" y="3483844"/>
            <a:ext cx="1913683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GREEDY METHOD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68056" y="0"/>
            <a:ext cx="3383275" cy="6858000"/>
          </a:xfrm>
          <a:prstGeom prst="rect">
            <a:avLst/>
          </a:prstGeom>
          <a:solidFill>
            <a:srgbClr val="121F3E"/>
          </a:solidFill>
          <a:ln w="25399">
            <a:solidFill>
              <a:srgbClr val="196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3040" y="635000"/>
            <a:ext cx="2113307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03040" y="1997734"/>
            <a:ext cx="272289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224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03040" y="2478356"/>
            <a:ext cx="211330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D5E3F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Possible links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603040" y="3130451"/>
            <a:ext cx="211330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edges. Some routes create cycles.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40" y="4190529"/>
            <a:ext cx="406390" cy="406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03040" y="4721389"/>
            <a:ext cx="98045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Flexible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892" y="4190529"/>
            <a:ext cx="406390" cy="406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5892" y="4721389"/>
            <a:ext cx="98045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Redundant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808420" y="-14089"/>
            <a:ext cx="3383275" cy="6858000"/>
          </a:xfrm>
          <a:prstGeom prst="rect">
            <a:avLst/>
          </a:prstGeom>
          <a:solidFill>
            <a:srgbClr val="121F3E"/>
          </a:solidFill>
          <a:ln w="25399">
            <a:solidFill>
              <a:srgbClr val="196B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43404" y="635000"/>
            <a:ext cx="2113307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443404" y="1884170"/>
            <a:ext cx="272289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224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443404" y="2355631"/>
            <a:ext cx="2537102" cy="911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D5E3F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Minimum spanning tree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9469109" y="3235841"/>
            <a:ext cx="211330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vertex connects. No cycle remains.</a:t>
            </a:r>
            <a:endParaRPr lang="en-US" sz="1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404" y="4190529"/>
            <a:ext cx="406390" cy="406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443404" y="4721389"/>
            <a:ext cx="98045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6256" y="4190529"/>
            <a:ext cx="406390" cy="406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76256" y="4721389"/>
            <a:ext cx="98045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385564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EXPERIMENT · THREE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3855643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Rules of the Experiment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003451"/>
            <a:ext cx="2583096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218081"/>
            <a:ext cx="385564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choice must be cheap, safe, and enough.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22317" y="609600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22317" y="894159"/>
            <a:ext cx="665969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8" name="Text 6"/>
          <p:cNvSpPr/>
          <p:nvPr/>
        </p:nvSpPr>
        <p:spPr>
          <a:xfrm>
            <a:off x="4922317" y="1112699"/>
            <a:ext cx="665979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Sort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2317" y="1549420"/>
            <a:ext cx="66597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edges from smallest to largest.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22317" y="2286000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2317" y="2570559"/>
            <a:ext cx="665969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22317" y="2789099"/>
            <a:ext cx="665979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Check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22317" y="3225820"/>
            <a:ext cx="66597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 an edge only if it does not create a cycle.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22317" y="3962400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22317" y="4246959"/>
            <a:ext cx="665969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22317" y="4465499"/>
            <a:ext cx="6659793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Stop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22317" y="4902220"/>
            <a:ext cx="66597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after V−1 edges: 4 edges for 5 vertices.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2317" y="2051050"/>
            <a:ext cx="6659793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922317" y="3727450"/>
            <a:ext cx="6659793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 EXPERIMENT · FIXED GEOMETRY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Our Weighted Graph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74130"/>
            <a:ext cx="7351429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47180"/>
            <a:ext cx="10972526" cy="3615531"/>
          </a:xfrm>
          <a:prstGeom prst="roundRect">
            <a:avLst>
              <a:gd name="adj" fmla="val 316"/>
            </a:avLst>
          </a:prstGeom>
          <a:solidFill>
            <a:srgbClr val="121F3E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0784000">
            <a:off x="2506005" y="2954239"/>
            <a:ext cx="3627744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816000">
            <a:off x="6057649" y="2954237"/>
            <a:ext cx="3627744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5100" y="3372842"/>
            <a:ext cx="6646597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084000">
            <a:off x="2265008" y="4121249"/>
            <a:ext cx="1801172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7698000">
            <a:off x="8023816" y="4121250"/>
            <a:ext cx="2004069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15481" y="4907756"/>
            <a:ext cx="4160436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9900000">
            <a:off x="3685681" y="4121250"/>
            <a:ext cx="6063106" cy="25301"/>
          </a:xfrm>
          <a:prstGeom prst="line">
            <a:avLst/>
          </a:prstGeom>
          <a:solidFill>
            <a:srgbClr val="35B7FF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67452" y="2358132"/>
            <a:ext cx="456593" cy="456605"/>
          </a:xfrm>
          <a:prstGeom prst="ellipse">
            <a:avLst/>
          </a:prstGeom>
          <a:solidFill>
            <a:srgbClr val="121F3E"/>
          </a:solidFill>
          <a:ln w="19050">
            <a:solidFill>
              <a:srgbClr val="7BE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15807" y="3119140"/>
            <a:ext cx="456593" cy="456605"/>
          </a:xfrm>
          <a:prstGeom prst="ellipse">
            <a:avLst/>
          </a:prstGeom>
          <a:solidFill>
            <a:srgbClr val="121F3E"/>
          </a:solidFill>
          <a:ln w="19050">
            <a:solidFill>
              <a:srgbClr val="7BE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9096" y="3119140"/>
            <a:ext cx="456593" cy="456605"/>
          </a:xfrm>
          <a:prstGeom prst="ellipse">
            <a:avLst/>
          </a:prstGeom>
          <a:solidFill>
            <a:srgbClr val="121F3E"/>
          </a:solidFill>
          <a:ln w="19050">
            <a:solidFill>
              <a:srgbClr val="7B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8888" y="4692055"/>
            <a:ext cx="456593" cy="456605"/>
          </a:xfrm>
          <a:prstGeom prst="ellipse">
            <a:avLst/>
          </a:prstGeom>
          <a:solidFill>
            <a:srgbClr val="121F3E"/>
          </a:solidFill>
          <a:ln w="19050">
            <a:solidFill>
              <a:srgbClr val="7BE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6016" y="4692055"/>
            <a:ext cx="456593" cy="456605"/>
          </a:xfrm>
          <a:prstGeom prst="ellipse">
            <a:avLst/>
          </a:prstGeom>
          <a:solidFill>
            <a:srgbClr val="121F3E"/>
          </a:solidFill>
          <a:ln w="19050">
            <a:solidFill>
              <a:srgbClr val="7BE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9709" y="2438678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68064" y="3199785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71353" y="3199785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1145" y="4772601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28273" y="4772601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1547" y="2590244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AB=4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98478" y="2602944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AC=2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67511" y="2958048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BC=1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18763" y="4213860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BD=5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27361" y="4201160"/>
            <a:ext cx="1459471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CE=10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04012" y="5000367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DE=2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01115" y="3884057"/>
            <a:ext cx="1383372" cy="276820"/>
          </a:xfrm>
          <a:prstGeom prst="rect">
            <a:avLst/>
          </a:prstGeom>
          <a:noFill/>
          <a:ln/>
        </p:spPr>
        <p:txBody>
          <a:bodyPr wrap="none" lIns="25399" tIns="25399" rIns="25399" bIns="25399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96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CD=8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4232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01 · CHEAPEST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274297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Sort the Connections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103041"/>
            <a:ext cx="7351429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8117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the edge that costs 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844701"/>
            <a:ext cx="2514537" cy="115064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07330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179" y="3357860"/>
            <a:ext cx="2057349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3481150"/>
            <a:ext cx="2057349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BC=1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8914" y="307330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8914" y="3357860"/>
            <a:ext cx="2514537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3481150"/>
            <a:ext cx="2514537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AC=2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48244" y="307330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244" y="3357860"/>
            <a:ext cx="2514537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3481150"/>
            <a:ext cx="2514537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DE=2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67573" y="307330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3357860"/>
            <a:ext cx="2514537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481150"/>
            <a:ext cx="2514537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AB=4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9585" y="452874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585" y="4813300"/>
            <a:ext cx="345431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4936590"/>
            <a:ext cx="345431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BD=5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68691" y="452874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68691" y="4813300"/>
            <a:ext cx="345431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68691" y="4936590"/>
            <a:ext cx="345431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CD=8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27797" y="4528741"/>
            <a:ext cx="85345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35B7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7797" y="4813300"/>
            <a:ext cx="3454314" cy="19050"/>
          </a:xfrm>
          <a:prstGeom prst="rect">
            <a:avLst/>
          </a:prstGeom>
          <a:solidFill>
            <a:srgbClr val="35B7FF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936590"/>
            <a:ext cx="345431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CE=10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02 · ACCEPT SAFE EDGES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 the MST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23330"/>
            <a:ext cx="10972526" cy="3194546"/>
          </a:xfrm>
          <a:prstGeom prst="rect">
            <a:avLst/>
          </a:prstGeom>
          <a:solidFill>
            <a:srgbClr val="121F3E"/>
          </a:solidFill>
          <a:ln w="6350">
            <a:solidFill>
              <a:srgbClr val="3550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331" y="1885890"/>
            <a:ext cx="1081377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COMPONENTS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5123717"/>
            <a:ext cx="3555911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BC=1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5560437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=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7892" y="5123717"/>
            <a:ext cx="3555911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AC=2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17892" y="5560437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=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26199" y="5123717"/>
            <a:ext cx="3555911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DE=2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26199" y="5560437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= 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 rot="20880000">
            <a:off x="2391906" y="2894509"/>
            <a:ext cx="3678443" cy="25301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720000">
            <a:off x="6019649" y="2919909"/>
            <a:ext cx="3678443" cy="25301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4104" y="3313113"/>
            <a:ext cx="7103289" cy="25301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3572" y="4378623"/>
            <a:ext cx="3551645" cy="25301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0554" y="2222202"/>
            <a:ext cx="456593" cy="456605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5807" y="3084810"/>
            <a:ext cx="456593" cy="456605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9096" y="3084810"/>
            <a:ext cx="456593" cy="456605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5276" y="4150320"/>
            <a:ext cx="456593" cy="456605"/>
          </a:xfrm>
          <a:prstGeom prst="ellipse">
            <a:avLst/>
          </a:prstGeom>
          <a:solidFill>
            <a:srgbClr val="121F3E"/>
          </a:solidFill>
          <a:ln w="25400">
            <a:solidFill>
              <a:srgbClr val="7B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6920" y="4150320"/>
            <a:ext cx="456593" cy="456605"/>
          </a:xfrm>
          <a:prstGeom prst="ellipse">
            <a:avLst/>
          </a:prstGeom>
          <a:solidFill>
            <a:srgbClr val="121F3E"/>
          </a:solidFill>
          <a:ln w="25400">
            <a:solidFill>
              <a:srgbClr val="7B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2811" y="2302748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68064" y="3165356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1353" y="3165356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7533" y="4230866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49177" y="4230866"/>
            <a:ext cx="9520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92811" y="3443724"/>
            <a:ext cx="125647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BC=1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7679" y="2644616"/>
            <a:ext cx="125647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AC=2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21207" y="4433133"/>
            <a:ext cx="125647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DE=2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59760" y="2530415"/>
            <a:ext cx="26517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144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 {A,B,C}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13262" y="3798927"/>
            <a:ext cx="239805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kern="100" spc="144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 {D,E}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40842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03 · CYCLE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3474653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Detect the Cycle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88791"/>
            <a:ext cx="2328011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666921"/>
            <a:ext cx="347465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and B are already connected through 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414911"/>
            <a:ext cx="3474653" cy="197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D5E3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REJECT · AB=4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closes a cycle.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D5E3F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ACCEPT · BD=5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Safely connects the two components. Total cost becomes 10.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50912" y="0"/>
            <a:ext cx="7040783" cy="6858000"/>
          </a:xfrm>
          <a:prstGeom prst="rect">
            <a:avLst/>
          </a:prstGeom>
          <a:solidFill>
            <a:srgbClr val="121F3E"/>
          </a:solidFill>
          <a:ln w="25399">
            <a:solidFill>
              <a:srgbClr val="196B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8707" y="181610"/>
            <a:ext cx="686298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PATH CHECK · A → C →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20220000">
            <a:off x="6477532" y="1182190"/>
            <a:ext cx="2282768" cy="5556"/>
          </a:xfrm>
          <a:prstGeom prst="line">
            <a:avLst/>
          </a:prstGeom>
          <a:solidFill>
            <a:srgbClr val="35B7FF"/>
          </a:solidFill>
          <a:ln w="38100">
            <a:solidFill>
              <a:srgbClr val="35B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380000">
            <a:off x="8760399" y="1182192"/>
            <a:ext cx="2254590" cy="20439"/>
          </a:xfrm>
          <a:prstGeom prst="line">
            <a:avLst/>
          </a:prstGeom>
          <a:solidFill>
            <a:srgbClr val="35B7FF"/>
          </a:solidFill>
          <a:ln w="38100">
            <a:solidFill>
              <a:srgbClr val="35B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2906" y="1616770"/>
            <a:ext cx="4456795" cy="22225"/>
          </a:xfrm>
          <a:prstGeom prst="line">
            <a:avLst/>
          </a:prstGeom>
          <a:solidFill>
            <a:srgbClr val="35B7FF"/>
          </a:solidFill>
          <a:ln w="38100">
            <a:solidFill>
              <a:srgbClr val="35B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2845" y="3232348"/>
            <a:ext cx="2896917" cy="22225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27679">
            <a:off x="5974903" y="2218432"/>
            <a:ext cx="1793830" cy="568226"/>
          </a:xfrm>
          <a:prstGeom prst="line">
            <a:avLst/>
          </a:prstGeom>
          <a:solidFill>
            <a:srgbClr val="35B7FF"/>
          </a:solidFill>
          <a:ln w="50800">
            <a:solidFill>
              <a:srgbClr val="35B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0688" y="502543"/>
            <a:ext cx="401032" cy="401042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2291" y="1416149"/>
            <a:ext cx="401032" cy="401042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9085" y="1416149"/>
            <a:ext cx="401032" cy="401042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2230" y="3031827"/>
            <a:ext cx="401032" cy="401042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19146" y="3031827"/>
            <a:ext cx="401032" cy="401042"/>
          </a:xfrm>
          <a:prstGeom prst="ellipse">
            <a:avLst/>
          </a:prstGeom>
          <a:solidFill>
            <a:srgbClr val="121F3E"/>
          </a:solidFill>
          <a:ln w="25400">
            <a:solidFill>
              <a:srgbClr val="35B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6000" y="596086"/>
            <a:ext cx="9104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87603" y="1509792"/>
            <a:ext cx="9104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44397" y="1509792"/>
            <a:ext cx="9104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7542" y="3125371"/>
            <a:ext cx="9104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64458" y="3125371"/>
            <a:ext cx="9104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3878" y="829409"/>
            <a:ext cx="229209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AB=4 · REJECT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70013" y="3358694"/>
            <a:ext cx="229209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BD=5 · ACCEPT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36368" y="1787664"/>
            <a:ext cx="26263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→ C → B = existing path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408423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 · MINIMUM SPANNING TREE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81670"/>
            <a:ext cx="347465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b="1" kern="100" spc="-90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MST Cost = </a:t>
            </a:r>
            <a:r>
              <a:rPr lang="en-US" sz="6000" b="1" kern="100" spc="-90" dirty="0">
                <a:solidFill>
                  <a:srgbClr val="35B7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09585" y="2683470"/>
            <a:ext cx="2328011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961600"/>
            <a:ext cx="347465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safe edges connect all five vertices.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715623"/>
            <a:ext cx="408423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+ 2 + 2 + 5 = 10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585" y="4231481"/>
            <a:ext cx="1432187" cy="308670"/>
          </a:xfrm>
          <a:prstGeom prst="roundRect">
            <a:avLst>
              <a:gd name="adj" fmla="val 3703"/>
            </a:avLst>
          </a:prstGeom>
          <a:solidFill>
            <a:srgbClr val="00314D"/>
          </a:solidFill>
          <a:ln/>
        </p:spPr>
      </p:sp>
      <p:sp>
        <p:nvSpPr>
          <p:cNvPr id="8" name="Text 6"/>
          <p:cNvSpPr/>
          <p:nvPr/>
        </p:nvSpPr>
        <p:spPr>
          <a:xfrm>
            <a:off x="731422" y="4300414"/>
            <a:ext cx="1798096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MINIMUM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5" y="4641751"/>
            <a:ext cx="2206967" cy="308670"/>
          </a:xfrm>
          <a:prstGeom prst="roundRect">
            <a:avLst>
              <a:gd name="adj" fmla="val 3703"/>
            </a:avLst>
          </a:prstGeom>
          <a:noFill/>
          <a:ln w="6350">
            <a:solidFill>
              <a:srgbClr val="35B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422" y="4710684"/>
            <a:ext cx="2572876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MAXIMUM CONNECTIVITY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50912" y="0"/>
            <a:ext cx="7040783" cy="6858000"/>
          </a:xfrm>
          <a:prstGeom prst="rect">
            <a:avLst/>
          </a:prstGeom>
          <a:solidFill>
            <a:srgbClr val="121F3E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9658" y="162560"/>
            <a:ext cx="688203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MST · NO CYCLES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565" y="3805833"/>
            <a:ext cx="406390" cy="406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2565" y="4340821"/>
            <a:ext cx="2139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kern="100" spc="-72" dirty="0">
                <a:solidFill>
                  <a:srgbClr val="D5E3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686803" y="5156535"/>
            <a:ext cx="21395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4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vertices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372" y="3833308"/>
            <a:ext cx="406390" cy="406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09372" y="4300414"/>
            <a:ext cx="2139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kern="100" spc="-72" dirty="0">
                <a:solidFill>
                  <a:srgbClr val="D5E3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009372" y="5156535"/>
            <a:ext cx="21395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4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edges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3413" y="3825081"/>
            <a:ext cx="406390" cy="406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73413" y="4340821"/>
            <a:ext cx="21395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kern="100" spc="-72" dirty="0">
                <a:solidFill>
                  <a:srgbClr val="D5E3F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4800" dirty="0"/>
          </a:p>
        </p:txBody>
      </p:sp>
      <p:sp>
        <p:nvSpPr>
          <p:cNvPr id="21" name="Text 16"/>
          <p:cNvSpPr/>
          <p:nvPr/>
        </p:nvSpPr>
        <p:spPr>
          <a:xfrm>
            <a:off x="10022353" y="5149493"/>
            <a:ext cx="21395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4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 rot="1380000">
            <a:off x="8760896" y="1167607"/>
            <a:ext cx="2209348" cy="5556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 rot="3165363">
            <a:off x="5892256" y="2209800"/>
            <a:ext cx="1848895" cy="347365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14511" y="3229471"/>
            <a:ext cx="2913386" cy="22324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69597" y="484088"/>
            <a:ext cx="403314" cy="403324"/>
          </a:xfrm>
          <a:prstGeom prst="ellipse">
            <a:avLst/>
          </a:prstGeom>
          <a:solidFill>
            <a:srgbClr val="35B7FF"/>
          </a:solidFill>
          <a:ln w="25400">
            <a:solidFill>
              <a:srgbClr val="36E39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28500" y="1402953"/>
            <a:ext cx="403314" cy="403324"/>
          </a:xfrm>
          <a:prstGeom prst="ellipse">
            <a:avLst/>
          </a:prstGeom>
          <a:solidFill>
            <a:srgbClr val="35B7FF"/>
          </a:solidFill>
          <a:ln w="25400">
            <a:solidFill>
              <a:srgbClr val="36E39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710694" y="1402953"/>
            <a:ext cx="403314" cy="403324"/>
          </a:xfrm>
          <a:prstGeom prst="ellipse">
            <a:avLst/>
          </a:prstGeom>
          <a:solidFill>
            <a:srgbClr val="35B7FF"/>
          </a:solidFill>
          <a:ln w="25400">
            <a:solidFill>
              <a:srgbClr val="36E39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012804" y="3027759"/>
            <a:ext cx="403314" cy="403324"/>
          </a:xfrm>
          <a:prstGeom prst="ellipse">
            <a:avLst/>
          </a:prstGeom>
          <a:solidFill>
            <a:srgbClr val="35B7FF"/>
          </a:solidFill>
          <a:ln w="25400">
            <a:solidFill>
              <a:srgbClr val="36E39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926290" y="3027759"/>
            <a:ext cx="403314" cy="403324"/>
          </a:xfrm>
          <a:prstGeom prst="ellipse">
            <a:avLst/>
          </a:prstGeom>
          <a:solidFill>
            <a:srgbClr val="35B7FF"/>
          </a:solidFill>
          <a:ln w="25400">
            <a:solidFill>
              <a:srgbClr val="36E39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469597" y="484088"/>
            <a:ext cx="403314" cy="403324"/>
          </a:xfrm>
          <a:prstGeom prst="ellipse">
            <a:avLst/>
          </a:prstGeom>
          <a:solidFill>
            <a:srgbClr val="35B7FF"/>
          </a:solidFill>
          <a:ln/>
        </p:spPr>
      </p:sp>
      <p:sp>
        <p:nvSpPr>
          <p:cNvPr id="31" name="Text 26"/>
          <p:cNvSpPr/>
          <p:nvPr/>
        </p:nvSpPr>
        <p:spPr>
          <a:xfrm>
            <a:off x="8215206" y="565726"/>
            <a:ext cx="9120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228500" y="1402953"/>
            <a:ext cx="403314" cy="403324"/>
          </a:xfrm>
          <a:prstGeom prst="ellipse">
            <a:avLst/>
          </a:prstGeom>
          <a:solidFill>
            <a:srgbClr val="35B7FF"/>
          </a:solidFill>
          <a:ln/>
        </p:spPr>
      </p:sp>
      <p:sp>
        <p:nvSpPr>
          <p:cNvPr id="33" name="Text 28"/>
          <p:cNvSpPr/>
          <p:nvPr/>
        </p:nvSpPr>
        <p:spPr>
          <a:xfrm>
            <a:off x="5974109" y="1484590"/>
            <a:ext cx="9120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10710694" y="1402953"/>
            <a:ext cx="403314" cy="403324"/>
          </a:xfrm>
          <a:prstGeom prst="ellipse">
            <a:avLst/>
          </a:prstGeom>
          <a:solidFill>
            <a:srgbClr val="35B7FF"/>
          </a:solidFill>
          <a:ln/>
        </p:spPr>
      </p:sp>
      <p:sp>
        <p:nvSpPr>
          <p:cNvPr id="35" name="Text 30"/>
          <p:cNvSpPr/>
          <p:nvPr/>
        </p:nvSpPr>
        <p:spPr>
          <a:xfrm>
            <a:off x="10456303" y="1484590"/>
            <a:ext cx="9120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012804" y="3027759"/>
            <a:ext cx="403314" cy="403324"/>
          </a:xfrm>
          <a:prstGeom prst="ellipse">
            <a:avLst/>
          </a:prstGeom>
          <a:solidFill>
            <a:srgbClr val="35B7FF"/>
          </a:solidFill>
          <a:ln/>
        </p:spPr>
      </p:sp>
      <p:sp>
        <p:nvSpPr>
          <p:cNvPr id="37" name="Text 32"/>
          <p:cNvSpPr/>
          <p:nvPr/>
        </p:nvSpPr>
        <p:spPr>
          <a:xfrm>
            <a:off x="6758414" y="3109397"/>
            <a:ext cx="9120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9926290" y="3027759"/>
            <a:ext cx="403314" cy="403324"/>
          </a:xfrm>
          <a:prstGeom prst="ellipse">
            <a:avLst/>
          </a:prstGeom>
          <a:solidFill>
            <a:srgbClr val="35B7FF"/>
          </a:solidFill>
          <a:ln/>
        </p:spPr>
      </p:sp>
      <p:sp>
        <p:nvSpPr>
          <p:cNvPr id="39" name="Text 34"/>
          <p:cNvSpPr/>
          <p:nvPr/>
        </p:nvSpPr>
        <p:spPr>
          <a:xfrm>
            <a:off x="9671899" y="3109397"/>
            <a:ext cx="9120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8147938" y="1305957"/>
            <a:ext cx="10466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BC=1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9335755" y="846475"/>
            <a:ext cx="10466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AC=2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030067" y="2370475"/>
            <a:ext cx="10466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BD=5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080669" y="3378934"/>
            <a:ext cx="10466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DE=2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631814" y="1638300"/>
            <a:ext cx="4078781" cy="5556"/>
          </a:xfrm>
          <a:prstGeom prst="line">
            <a:avLst/>
          </a:prstGeom>
          <a:solidFill>
            <a:srgbClr val="35B7FF"/>
          </a:solidFill>
          <a:ln w="38100">
            <a:solidFill>
              <a:srgbClr val="36E39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603998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CLASSROOM TO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5430404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Beyond the Classroom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88791"/>
            <a:ext cx="3638360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6184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210581"/>
            <a:ext cx="263895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Road planning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935" y="2661841"/>
            <a:ext cx="406390" cy="406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00935" y="3210581"/>
            <a:ext cx="263905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Computer networks</a:t>
            </a:r>
            <a:endParaRPr lang="en-US" sz="2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648571"/>
            <a:ext cx="406390" cy="40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585" y="4197311"/>
            <a:ext cx="263895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Electrical grids</a:t>
            </a:r>
            <a:endParaRPr lang="en-US" sz="2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0935" y="3648571"/>
            <a:ext cx="406390" cy="406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00935" y="4197311"/>
            <a:ext cx="263905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Telecommunications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609585" y="4670862"/>
            <a:ext cx="26389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9585" y="5007372"/>
            <a:ext cx="263895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b="1" kern="100" spc="-51" dirty="0">
                <a:solidFill>
                  <a:srgbClr val="F4F8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O(E log E)</a:t>
            </a:r>
            <a:endParaRPr lang="en-US" sz="3400" dirty="0"/>
          </a:p>
        </p:txBody>
      </p:sp>
      <p:sp>
        <p:nvSpPr>
          <p:cNvPr id="15" name="Text 9"/>
          <p:cNvSpPr/>
          <p:nvPr/>
        </p:nvSpPr>
        <p:spPr>
          <a:xfrm>
            <a:off x="609585" y="5603002"/>
            <a:ext cx="263895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Sorting dominates.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400935" y="4670862"/>
            <a:ext cx="26390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35B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 CHECK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400935" y="4984612"/>
            <a:ext cx="2639054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4F8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Union-Find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3400935" y="5421332"/>
            <a:ext cx="263905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5E3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efficient cycle detection.</a:t>
            </a:r>
            <a:endParaRPr lang="en-US" sz="16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629904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TURN · PREDICT THE NEXT MOVE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387"/>
            <a:ext cx="5689458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6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Challenge the Audience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88791"/>
            <a:ext cx="3811790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84091"/>
            <a:ext cx="56894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kern="100" spc="-72" dirty="0">
                <a:solidFill>
                  <a:srgbClr val="35B7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Which edge should Kruskal select next?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9585" y="4864021"/>
            <a:ext cx="62990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greedy. Avoid cycles. Minimize cost.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5331361"/>
            <a:ext cx="276853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5" y="5645111"/>
            <a:ext cx="2768531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100" spc="-33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smallest safe edge.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30512" y="5331361"/>
            <a:ext cx="276853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30512" y="5666601"/>
            <a:ext cx="276853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Kruskal builds an MST by repeatedly selecting the smallest safe edge.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932" y="0"/>
            <a:ext cx="5283068" cy="6858000"/>
          </a:xfrm>
          <a:prstGeom prst="rect">
            <a:avLst/>
          </a:prstGeom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D7C38E61-DECC-8DB6-EED3-A9D13CDD6E27}"/>
              </a:ext>
            </a:extLst>
          </p:cNvPr>
          <p:cNvSpPr/>
          <p:nvPr/>
        </p:nvSpPr>
        <p:spPr>
          <a:xfrm>
            <a:off x="609585" y="4668725"/>
            <a:ext cx="3811790" cy="38100"/>
          </a:xfrm>
          <a:prstGeom prst="roundRect">
            <a:avLst>
              <a:gd name="adj" fmla="val 49999"/>
            </a:avLst>
          </a:prstGeom>
          <a:solidFill>
            <a:srgbClr val="35B7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487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IBM Plex Sans</vt:lpstr>
      <vt:lpstr>Space Grotesk Bold</vt:lpstr>
      <vt:lpstr>IBM Plex Sans SemiBold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ANITA BUDDHE</cp:lastModifiedBy>
  <cp:revision>2</cp:revision>
  <dcterms:created xsi:type="dcterms:W3CDTF">2026-10-15T16:05:01Z</dcterms:created>
  <dcterms:modified xsi:type="dcterms:W3CDTF">2026-10-15T16:13:56Z</dcterms:modified>
</cp:coreProperties>
</file>